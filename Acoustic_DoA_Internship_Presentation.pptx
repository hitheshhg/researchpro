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B4D8"/>
                </a:solidFill>
              </a:defRPr>
            </a:pPr>
            <a:r>
              <a:t>NITTE (DEEMED TO BE UNIVERSITY) • NMAM INSTITUTE OF TECHNOLOGY</a:t>
            </a:r>
            <a:br/>
            <a:r>
              <a:t>SUMMER RESEARCH INTERNSHIP PROGRAMME (SRIP 2025–26)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Sound Direction Estimation using</a:t>
            </a:r>
            <a:br/>
            <a:r>
              <a:t>Machine Learning and TinyML</a:t>
            </a:r>
          </a:p>
          <a:p>
            <a:pPr>
              <a:defRPr sz="1400">
                <a:solidFill>
                  <a:srgbClr val="C8E1F5"/>
                </a:solidFill>
              </a:defRPr>
            </a:pPr>
            <a:r>
              <a:t>Edge AI &amp; Sub-Millisecond TinyML Direction of Arrival on ESP32 Microcontroller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2377440" cy="1097280"/>
          </a:xfrm>
          <a:prstGeom prst="roundRect">
            <a:avLst/>
          </a:prstGeom>
          <a:solidFill>
            <a:srgbClr val="15304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B4D8"/>
                </a:solidFill>
              </a:defRPr>
            </a:pPr>
            <a:r>
              <a:t>97.33%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Test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3931920"/>
            <a:ext cx="2377440" cy="1097280"/>
          </a:xfrm>
          <a:prstGeom prst="roundRect">
            <a:avLst/>
          </a:prstGeom>
          <a:solidFill>
            <a:srgbClr val="15304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B4D8"/>
                </a:solidFill>
              </a:defRPr>
            </a:pPr>
            <a:r>
              <a:t>0.56 ms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Pipeline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2377440" cy="1097280"/>
          </a:xfrm>
          <a:prstGeom prst="roundRect">
            <a:avLst/>
          </a:prstGeom>
          <a:solidFill>
            <a:srgbClr val="15304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B4D8"/>
                </a:solidFill>
              </a:defRPr>
            </a:pPr>
            <a:r>
              <a:t>2.44 KB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Model Footprint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3931920"/>
            <a:ext cx="2377440" cy="1097280"/>
          </a:xfrm>
          <a:prstGeom prst="roundRect">
            <a:avLst/>
          </a:prstGeom>
          <a:solidFill>
            <a:srgbClr val="15304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B4D8"/>
                </a:solidFill>
              </a:defRPr>
            </a:pPr>
            <a:r>
              <a:t>4.0 KB</a:t>
            </a:r>
          </a:p>
          <a:p>
            <a:pPr algn="ctr">
              <a:defRPr sz="1000">
                <a:solidFill>
                  <a:srgbClr val="F0F0F0"/>
                </a:solidFill>
              </a:defRPr>
            </a:pPr>
            <a:r>
              <a:t>Tensor Arena 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DCEBFF"/>
                </a:solidFill>
              </a:defRPr>
            </a:pPr>
            <a:r>
              <a:t>Student: Hithesh H G (USN: NNM23CS084)  |  Guide: Dr. Keerthana B Chigateri  |  Dept. of Computer Science &amp; Engineering (CSE)</a:t>
            </a:r>
          </a:p>
          <a:p>
            <a:pPr>
              <a:defRPr sz="1000">
                <a:solidFill>
                  <a:srgbClr val="A0B9D2"/>
                </a:solidFill>
              </a:defRPr>
            </a:pPr>
            <a:r>
              <a:t>NMAM Institute of Technology, Nitte (Deemed to be University)  •  Progress Presentation: 26 Sept 2026, 11:00 AM – 11:15 AM (LH211 APJ Block)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Executive Summary &amp; Research Problem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565C0"/>
                </a:solidFill>
              </a:defRPr>
            </a:pPr>
            <a:r>
              <a:t>The Edge Acoustic Challenge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Acoustic spatial awareness is vital for robotic orientation, voice-command focus, and acoustic event localization.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Classical beamforming algorithms (MUSIC, ESPRIT, GCC-PHAT) require multichannel synchronous ADCs and matrix inversions prohibitive on edge MCUs.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Multipath reverberation (room reflections) causes destructive interference and false peaks in classical TDOA peak-picking.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Low-cost microcontrollers (ESP32) feature multiplexed SAR ADCs with inter-channel conversion skews and phase jitter.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• Core Goal: Deliver real-time 3-sector classification on a $4 ESP32 within strict memory (&lt; 8 KB RAM) and timing (&lt; 10 ms)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E7D32"/>
                </a:solidFill>
              </a:defRPr>
            </a:pPr>
            <a:r>
              <a:t>Engineered Research Directives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✔ Hardware Setup: 2x MAX9814 analog electret mics separated by a compact d = 10 cm baseline, sampled via ADC1 GPIO34/35 @ 16 kHz.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✔ Feature Engineering: In-place 31-point Zero-Mean Normalized Cross-Correlation (NCC) across lags [-15, +15]. Zero heap allocation (malloc=0).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✔ Acoustic Simulation: 1,500 samples generated via PyRoomAcoustics in 5x5x3m room with realistic reverberation (T60 ≈ 0.20s).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✔ TinyML MLP Model: 31 -&gt; Dense(16, ReLU) -&gt; Dense(3, Softmax) quantized to full 8-bit integer precision (int8).</a:t>
            </a:r>
          </a:p>
          <a:p>
            <a:pPr>
              <a:spcAft>
                <a:spcPts val="800"/>
              </a:spcAft>
              <a:defRPr sz="1100">
                <a:solidFill>
                  <a:srgbClr val="212529"/>
                </a:solidFill>
              </a:defRPr>
            </a:pPr>
            <a:r>
              <a:t>✔ Outcome: 97.33% accuracy, 2.44 KB Flash, 4.0 KB RAM arena, and 0.56 ms total compute latency (94.4% timing margin).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Mathematical Formulation of Time Difference of Arrival (TDOA)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tdoa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65C0"/>
                </a:solidFill>
              </a:defRPr>
            </a:pPr>
            <a:r>
              <a:t>Mathematical Proof &amp; Spatial Bounds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Far-field (Fraunhofer) Boundary: dF = 2·d² / λ = 2·(0.10)² / 0.086 ≈ 23.3 cm. Since R ≥ 1.0 m, planar wavefront assumption is exact.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Path Difference Equation: Δr = d · sin(θ), where θ is azimuth from broadside (+Y).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Continuous Delay Equation: τ(θ) = Δr / c = (d / c) · sin(θ), with c = 343 m/s.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Discrete Lag Formulation: k_τ(θ) = τ(θ) · Fs = (d·Fs / c) · sin(θ) ≈ 4.6647 · sin(θ) samples.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LEFT (-45° nominal): τ = -206.15 μs ⇒ k_τ ≈ -3.30 samples (Left channel leads).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CENTER (0° nominal): τ = 0.00 μs ⇒ k_τ = 0.00 samples (Simultaneous arrival).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RIGHT (+45° nominal): τ = +206.15 μs ⇒ k_τ ≈ +3.30 samples (Right channel leads).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Why 31 Lags [-15, +15]? Window = ±937.5 μs (3.2x physical transit time of 291.5 μs). Captures sinc interpolation curve and early multipath echoes.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End-to-End System Hardware &amp; Software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922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65C0"/>
                </a:solidFill>
              </a:defRPr>
            </a:pPr>
            <a:r>
              <a:t>Architectural Pillars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</a:defRPr>
            </a:pPr>
            <a:r>
              <a:t>✔ Transducers: Dual MAX9814 electret amplifiers with internal 2V mic bias and AGC.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</a:defRPr>
            </a:pPr>
            <a:r>
              <a:t>✔ ADC Configuration: GPIO34 (Left) and GPIO35 (Right) on SAR ADC1 (avoids Wi-Fi lock on ADC2).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</a:defRPr>
            </a:pPr>
            <a:r>
              <a:t>✔ Deterministic DSP: 256-sample windowing @ 16 kHz. Static stack arrays with zero malloc.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</a:defRPr>
            </a:pPr>
            <a:r>
              <a:t>✔ Pre-Trigger Ring Buffer: 32 samples (2 ms) retained to prevent impulse attack clipping.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</a:defRPr>
            </a:pPr>
            <a:r>
              <a:t>✔ TinyML Engine: TFLM running on Xtensa LX6 @ 240 MHz. Static 4 KB Tensor Arena.</a:t>
            </a:r>
          </a:p>
          <a:p>
            <a:pPr>
              <a:spcAft>
                <a:spcPts val="600"/>
              </a:spcAft>
              <a:defRPr sz="1000">
                <a:solidFill>
                  <a:srgbClr val="212529"/>
                </a:solidFill>
              </a:defRPr>
            </a:pPr>
            <a:r>
              <a:t>✔ Lockout Debounce: 300 ms refractory window eliminates reverberant echo re-triggers.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Feature Engineering: Zero-Mean Normalized Cross-Correlation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6_ncc_spati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1206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65100"/>
                </a:solidFill>
              </a:defRPr>
            </a:pPr>
            <a:r>
              <a:t>Mathematical Routine &amp; Optimization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</a:defRPr>
            </a:pPr>
            <a:r>
              <a:t>• Step 1: DC Bias Removal: Computes means μx, μy across 256 samples; subtracts DC in-place.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</a:defRPr>
            </a:pPr>
            <a:r>
              <a:t>• Step 2: Energy Normalization: Calculates Ex = ∑x̃[n]² and Ey = ∑ỹ[n]². Denominator = √(Ex·Ey) + 1e-7.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</a:defRPr>
            </a:pPr>
            <a:r>
              <a:t>• Step 3: Normalized Correlation across [-15, +15]: NCC[k] = Rxy[k] / Denominator ∈ [-1.0, 1.0].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</a:defRPr>
            </a:pPr>
            <a:r>
              <a:t>• Gain Invariance: Scalar gain factors cancel completely: NCC[a·x, b·y] ≡ NCC[x, y]. Fully immune to MAX9814 AGC gain variations!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</a:defRPr>
            </a:pPr>
            <a:r>
              <a:t>• Xtensa FPU Acceleration: 4-way loop unrolling with pointer arithmetic executes in 0.48 ms on ESP32 (5.1 μs on host PC).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</a:defRPr>
            </a:pPr>
            <a:r>
              <a:t>• Zero-Malloc Guarantee: Fixed-size static arrays (s_x_zm[256], s_y_zm[256]) guarantee deterministic execution without heap fragmentation.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Acoustic Simulation &amp; Synthetic Dataset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565C0"/>
                </a:solidFill>
              </a:defRPr>
            </a:pPr>
            <a:r>
              <a:t>1. Room Acoustics</a:t>
            </a:r>
          </a:p>
          <a:p>
            <a:pPr>
              <a:spcAft>
                <a:spcPts val="500"/>
              </a:spcAft>
              <a:defRPr sz="1000"/>
            </a:pPr>
            <a:r>
              <a:t>• PyRoomAcoustics 3D shoe-box room: 5.0m x 5.0m x 3.0m.</a:t>
            </a:r>
          </a:p>
          <a:p>
            <a:pPr>
              <a:spcAft>
                <a:spcPts val="500"/>
              </a:spcAft>
              <a:defRPr sz="1000"/>
            </a:pPr>
            <a:r>
              <a:t>• Reverberation time target: T60 = 0.20s (representative of indoor conference / office space).</a:t>
            </a:r>
          </a:p>
          <a:p>
            <a:pPr>
              <a:spcAft>
                <a:spcPts val="500"/>
              </a:spcAft>
              <a:defRPr sz="1000"/>
            </a:pPr>
            <a:r>
              <a:t>• Sabine wall absorption: α = 0.5492.</a:t>
            </a:r>
          </a:p>
          <a:p>
            <a:pPr>
              <a:spcAft>
                <a:spcPts val="500"/>
              </a:spcAft>
              <a:defRPr sz="1000"/>
            </a:pPr>
            <a:r>
              <a:t>• Image Source Model (ISM) reflection order capped at 4th order for early multipath modeling.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65100"/>
                </a:solidFill>
              </a:defRPr>
            </a:pPr>
            <a:r>
              <a:t>2. Transient Signals</a:t>
            </a:r>
          </a:p>
          <a:p>
            <a:pPr>
              <a:spcAft>
                <a:spcPts val="500"/>
              </a:spcAft>
              <a:defRPr sz="1000"/>
            </a:pPr>
            <a:r>
              <a:t>• Synthesizes 4 realistic transient event classes mimicking snap/clap impulses.</a:t>
            </a:r>
          </a:p>
          <a:p>
            <a:pPr>
              <a:spcAft>
                <a:spcPts val="500"/>
              </a:spcAft>
              <a:defRPr sz="1000"/>
            </a:pPr>
            <a:r>
              <a:t>• Finger snaps: high-frequency resonant decay (1.8 - 4.2 kHz) with noise burst.</a:t>
            </a:r>
          </a:p>
          <a:p>
            <a:pPr>
              <a:spcAft>
                <a:spcPts val="500"/>
              </a:spcAft>
              <a:defRPr sz="1000"/>
            </a:pPr>
            <a:r>
              <a:t>• Hand claps: multi-burst decaying envelope with random sub-burst offsets.</a:t>
            </a:r>
          </a:p>
          <a:p>
            <a:pPr>
              <a:spcAft>
                <a:spcPts val="500"/>
              </a:spcAft>
              <a:defRPr sz="1000"/>
            </a:pPr>
            <a:r>
              <a:t>• Speech plosives / clicks: frequency modulated linear chirps &amp; bandpassed noise pulses.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</a:defRPr>
            </a:pPr>
            <a:r>
              <a:t>3. Spatial Perturbations</a:t>
            </a:r>
          </a:p>
          <a:p>
            <a:pPr>
              <a:spcAft>
                <a:spcPts val="500"/>
              </a:spcAft>
              <a:defRPr sz="1000"/>
            </a:pPr>
            <a:r>
              <a:t>• 1,500 total balanced samples (500 per class).</a:t>
            </a:r>
          </a:p>
          <a:p>
            <a:pPr>
              <a:spcAft>
                <a:spcPts val="500"/>
              </a:spcAft>
              <a:defRPr sz="1000"/>
            </a:pPr>
            <a:r>
              <a:t>• LEFT: -45° nominal (range: [-55°, -35°]).</a:t>
            </a:r>
          </a:p>
          <a:p>
            <a:pPr>
              <a:spcAft>
                <a:spcPts val="500"/>
              </a:spcAft>
              <a:defRPr sz="1000"/>
            </a:pPr>
            <a:r>
              <a:t>• CENTER: 0° nominal (range: [-10°, +10°]).</a:t>
            </a:r>
          </a:p>
          <a:p>
            <a:pPr>
              <a:spcAft>
                <a:spcPts val="500"/>
              </a:spcAft>
              <a:defRPr sz="1000"/>
            </a:pPr>
            <a:r>
              <a:t>• RIGHT: +45° nominal (range: [+35°, +55°]).</a:t>
            </a:r>
          </a:p>
          <a:p>
            <a:pPr>
              <a:spcAft>
                <a:spcPts val="500"/>
              </a:spcAft>
              <a:defRPr sz="1000"/>
            </a:pPr>
            <a:r>
              <a:t>• Distance perturbations: 1.0m - 2.4m.</a:t>
            </a:r>
          </a:p>
          <a:p>
            <a:pPr>
              <a:spcAft>
                <a:spcPts val="500"/>
              </a:spcAft>
              <a:defRPr sz="1000"/>
            </a:pPr>
            <a:r>
              <a:t>• Elevation variation: ±0.25m.</a:t>
            </a:r>
          </a:p>
          <a:p>
            <a:pPr>
              <a:spcAft>
                <a:spcPts val="500"/>
              </a:spcAft>
              <a:defRPr sz="1000"/>
            </a:pPr>
            <a:r>
              <a:t>• Additive sensor noise: SNR ~ 22-28 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TinyML Architecture &amp; 8-Bit Integer (Int8) 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65C0"/>
                </a:solidFill>
              </a:defRPr>
            </a:pPr>
            <a:r>
              <a:t>Ultra-Compact MLP Topology</a:t>
            </a:r>
          </a:p>
          <a:p>
            <a:pPr>
              <a:spcAft>
                <a:spcPts val="600"/>
              </a:spcAft>
              <a:defRPr sz="1050"/>
            </a:pPr>
            <a:r>
              <a:t>• Input Layer: 31 nodes (31-point normalized cross-correlation vector).</a:t>
            </a:r>
          </a:p>
          <a:p>
            <a:pPr>
              <a:spcAft>
                <a:spcPts val="600"/>
              </a:spcAft>
              <a:defRPr sz="1050"/>
            </a:pPr>
            <a:r>
              <a:t>• Hidden Layer: Dense(16, activation='relu') ⇒ 31 x 16 + 16 = 512 parameters.</a:t>
            </a:r>
          </a:p>
          <a:p>
            <a:pPr>
              <a:spcAft>
                <a:spcPts val="600"/>
              </a:spcAft>
              <a:defRPr sz="1050"/>
            </a:pPr>
            <a:r>
              <a:t>• Output Layer: Dense(3, activation='softmax') ⇒ 16 x 3 + 3 = 51 parameters.</a:t>
            </a:r>
          </a:p>
          <a:p>
            <a:pPr>
              <a:spcAft>
                <a:spcPts val="600"/>
              </a:spcAft>
              <a:defRPr sz="1050"/>
            </a:pPr>
            <a:r>
              <a:t>• Total Trainable Parameters: Exactly 563 weights &amp; biases.</a:t>
            </a:r>
          </a:p>
          <a:p>
            <a:pPr>
              <a:spcAft>
                <a:spcPts val="600"/>
              </a:spcAft>
              <a:defRPr sz="1050"/>
            </a:pPr>
            <a:r>
              <a:t>• Arithmetic Complexity: 649 Multiply-Accumulate (MAC) operations per inference.</a:t>
            </a:r>
          </a:p>
          <a:p>
            <a:pPr>
              <a:spcAft>
                <a:spcPts val="600"/>
              </a:spcAft>
              <a:defRPr sz="1050"/>
            </a:pPr>
            <a:r>
              <a:t>• Inference Execution Time: ~0.08 ms on Xtensa LX6 @ 240 MHz.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E7D32"/>
                </a:solidFill>
              </a:defRPr>
            </a:pPr>
            <a:r>
              <a:t>Full Int8 Quantization &amp; Memory</a:t>
            </a:r>
          </a:p>
          <a:p>
            <a:pPr>
              <a:spcAft>
                <a:spcPts val="600"/>
              </a:spcAft>
              <a:defRPr sz="1050"/>
            </a:pPr>
            <a:r>
              <a:t>✔ Quantization Strategy: Post-Training Integer Quantization (PTQ) using representative dataset calibration.</a:t>
            </a:r>
          </a:p>
          <a:p>
            <a:pPr>
              <a:spcAft>
                <a:spcPts val="600"/>
              </a:spcAft>
              <a:defRPr sz="1050"/>
            </a:pPr>
            <a:r>
              <a:t>✔ Input Mapping: q_in = round(x / 0.00763765) - 4  (signed int8 [-128, 127]).</a:t>
            </a:r>
          </a:p>
          <a:p>
            <a:pPr>
              <a:spcAft>
                <a:spcPts val="600"/>
              </a:spcAft>
              <a:defRPr sz="1050"/>
            </a:pPr>
            <a:r>
              <a:t>✔ Output Mapping: prob = (q_out - (-128)) * 0.00390625.</a:t>
            </a:r>
          </a:p>
          <a:p>
            <a:pPr>
              <a:spcAft>
                <a:spcPts val="600"/>
              </a:spcAft>
              <a:defRPr sz="1050"/>
            </a:pPr>
            <a:r>
              <a:t>✔ Model Footprint: 2,440 bytes (2.38 KB) in Flash (&lt; 10 KB budget, 76.2% margin!).</a:t>
            </a:r>
          </a:p>
          <a:p>
            <a:pPr>
              <a:spcAft>
                <a:spcPts val="600"/>
              </a:spcAft>
              <a:defRPr sz="1050"/>
            </a:pPr>
            <a:r>
              <a:t>✔ Runtime Tensor Arena: 4,096 bytes (4 KB) static SRAM (&lt; 8 KB budget, 48.8% margin!).</a:t>
            </a:r>
          </a:p>
          <a:p>
            <a:pPr>
              <a:spcAft>
                <a:spcPts val="600"/>
              </a:spcAft>
              <a:defRPr sz="1050"/>
            </a:pPr>
            <a:r>
              <a:t>✔ Embedded C Array: Exported as 16-byte aligned array `g_model_data` in `model_data.h`.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ESP32 Real-Time Firmware &amp; Finite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dsp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4389120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65C0"/>
                </a:solidFill>
              </a:defRPr>
            </a:pPr>
            <a:r>
              <a:t>Firmware Engineering Rigor</a:t>
            </a:r>
          </a:p>
          <a:p>
            <a:pPr>
              <a:spcAft>
                <a:spcPts val="600"/>
              </a:spcAft>
              <a:defRPr sz="1000"/>
            </a:pPr>
            <a:r>
              <a:t>• Boot &amp; Calibration: Samples 2,048 readings to establish ambient DC bias (nominally ~1.25V / 1550 ADC units).</a:t>
            </a:r>
          </a:p>
          <a:p>
            <a:pPr>
              <a:spcAft>
                <a:spcPts val="600"/>
              </a:spcAft>
              <a:defRPr sz="1000"/>
            </a:pPr>
            <a:r>
              <a:t>• High-Precision 16 kHz Polling: Uses `esp_timer_get_time()` with busy-wait delay to enforce exact 62.5 μs sample periods.</a:t>
            </a:r>
          </a:p>
          <a:p>
            <a:pPr>
              <a:spcAft>
                <a:spcPts val="600"/>
              </a:spcAft>
              <a:defRPr sz="1000"/>
            </a:pPr>
            <a:r>
              <a:t>• Circular Pre-Trigger Buffer: 32 samples (2 ms) stored continuously; prevents missing sharp snap/clap onset attack edges.</a:t>
            </a:r>
          </a:p>
          <a:p>
            <a:pPr>
              <a:spcAft>
                <a:spcPts val="600"/>
              </a:spcAft>
              <a:defRPr sz="1000"/>
            </a:pPr>
            <a:r>
              <a:t>• Dual-Condition Energy Trigger: Triggers when absolute deviation from DC bias &gt; 380 units. Slow IIR updates bias during silence.</a:t>
            </a:r>
          </a:p>
          <a:p>
            <a:pPr>
              <a:spcAft>
                <a:spcPts val="600"/>
              </a:spcAft>
              <a:defRPr sz="1000"/>
            </a:pPr>
            <a:r>
              <a:t>• Zero-Copy DSP Execution: Fills 256-sample frame buffer and calls unrolled NCC routine without any heap allocation.</a:t>
            </a:r>
          </a:p>
          <a:p>
            <a:pPr>
              <a:spcAft>
                <a:spcPts val="600"/>
              </a:spcAft>
              <a:defRPr sz="1000"/>
            </a:pPr>
            <a:r>
              <a:t>• Echo Debounce Refractory Lockout: 300 ms lockout post-inference suppresses room reverberation and multipath retriggers.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Experimental Validation &amp; Confusion Matrix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confusion_matrix_and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922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E7D32"/>
                </a:solidFill>
              </a:defRPr>
            </a:pPr>
            <a:r>
              <a:t>Performance Metrics</a:t>
            </a:r>
          </a:p>
          <a:p>
            <a:pPr>
              <a:spcAft>
                <a:spcPts val="500"/>
              </a:spcAft>
              <a:defRPr sz="950"/>
            </a:pPr>
            <a:r>
              <a:t>✔ Overall Test Accuracy: 97.33% across 225 independent test samples.</a:t>
            </a:r>
          </a:p>
          <a:p>
            <a:pPr>
              <a:spcAft>
                <a:spcPts val="500"/>
              </a:spcAft>
              <a:defRPr sz="950"/>
            </a:pPr>
            <a:r>
              <a:t>✔ LEFT (-45°): Precision = 93.75%, Recall = 100.0% (75/75), F1 = 96.77%.</a:t>
            </a:r>
          </a:p>
          <a:p>
            <a:pPr>
              <a:spcAft>
                <a:spcPts val="500"/>
              </a:spcAft>
              <a:defRPr sz="950"/>
            </a:pPr>
            <a:r>
              <a:t>✔ CENTER (0°): Precision = 100.0%, Recall = 98.67% (74/75), F1 = 99.33%.</a:t>
            </a:r>
          </a:p>
          <a:p>
            <a:pPr>
              <a:spcAft>
                <a:spcPts val="500"/>
              </a:spcAft>
              <a:defRPr sz="950"/>
            </a:pPr>
            <a:r>
              <a:t>✔ RIGHT (+45°): Precision = 98.59%, Recall = 93.33% (70/75), F1 = 95.89%.</a:t>
            </a:r>
          </a:p>
          <a:p>
            <a:pPr>
              <a:spcAft>
                <a:spcPts val="500"/>
              </a:spcAft>
              <a:defRPr sz="950"/>
            </a:pPr>
            <a:r>
              <a:t>✔ High Robustness: Operates seamlessly under reverberant room conditions (T60 ≈ 0.20s) and SNR down to 22 dB.</a:t>
            </a:r>
          </a:p>
          <a:p>
            <a:pPr>
              <a:spcAft>
                <a:spcPts val="500"/>
              </a:spcAft>
              <a:defRPr sz="950"/>
            </a:pPr>
            <a:r>
              <a:t>✔ Low Confusion: Only 6 out of 225 samples misclassified, occurring solely at extreme boundary angles.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Embedded Resource Profiling &amp; Constraint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5_hardware_profiling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922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65C0"/>
                </a:solidFill>
              </a:defRPr>
            </a:pPr>
            <a:r>
              <a:t>Constraint Compliance</a:t>
            </a:r>
          </a:p>
          <a:p>
            <a:pPr>
              <a:spcAft>
                <a:spcPts val="400"/>
              </a:spcAft>
              <a:defRPr sz="950"/>
            </a:pPr>
            <a:r>
              <a:t>• Flash Memory Footprint: Budget: &lt; 10.0 KB</a:t>
            </a:r>
            <a:br/>
            <a:r>
              <a:t>Achieved: 2.44 KB (76.2% margin) [PASS]</a:t>
            </a:r>
          </a:p>
          <a:p>
            <a:pPr>
              <a:spcAft>
                <a:spcPts val="400"/>
              </a:spcAft>
              <a:defRPr sz="950"/>
            </a:pPr>
            <a:r>
              <a:t>• Tensor Arena RAM: Budget: &lt; 8.0 KB</a:t>
            </a:r>
            <a:br/>
            <a:r>
              <a:t>Achieved: 4.00 KB (48.8% margin) [PASS]</a:t>
            </a:r>
          </a:p>
          <a:p>
            <a:pPr>
              <a:spcAft>
                <a:spcPts val="400"/>
              </a:spcAft>
              <a:defRPr sz="950"/>
            </a:pPr>
            <a:r>
              <a:t>• DSP Feature Extraction: 31-Lag NCC: 0.48 ms @ 240 MHz [PASS]</a:t>
            </a:r>
          </a:p>
          <a:p>
            <a:pPr>
              <a:spcAft>
                <a:spcPts val="400"/>
              </a:spcAft>
              <a:defRPr sz="950"/>
            </a:pPr>
            <a:r>
              <a:t>• Quantized Model Inference: 649 MACs: 0.08 ms @ 240 MHz [PASS]</a:t>
            </a:r>
          </a:p>
          <a:p>
            <a:pPr>
              <a:spcAft>
                <a:spcPts val="400"/>
              </a:spcAft>
              <a:defRPr sz="950"/>
            </a:pPr>
            <a:r>
              <a:t>• Total Pipeline Latency: Budget: &lt; 10.0 ms</a:t>
            </a:r>
            <a:br/>
            <a:r>
              <a:t>Achieved: 0.56 ms (94.4% margin!) [PASS]</a:t>
            </a:r>
          </a:p>
          <a:p>
            <a:pPr>
              <a:spcAft>
                <a:spcPts val="400"/>
              </a:spcAft>
              <a:defRPr sz="950"/>
            </a:pPr>
            <a:r>
              <a:t>• Dynamic Heap Allocation: Requirement: malloc = 0</a:t>
            </a:r>
            <a:br/>
            <a:r>
              <a:t>Achieved: 0 bytes dynamic [PASS]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Research Defense: Hardware Limitations &amp;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65100"/>
                </a:solidFill>
              </a:defRPr>
            </a:pPr>
            <a:r>
              <a:t>1. Front-Back Ambiguity</a:t>
            </a:r>
          </a:p>
          <a:p>
            <a:pPr>
              <a:spcAft>
                <a:spcPts val="400"/>
              </a:spcAft>
              <a:defRPr sz="950"/>
            </a:pPr>
            <a:r>
              <a:t>• Physical Cause: A 1D 2-mic linear array measures delay along baseline axis: Δr = d·cos(α).</a:t>
            </a:r>
          </a:p>
          <a:p>
            <a:pPr>
              <a:spcAft>
                <a:spcPts val="400"/>
              </a:spcAft>
              <a:defRPr sz="950"/>
            </a:pPr>
            <a:r>
              <a:t>• Rotational symmetry creates a cone of revolution ('cone of confusion'). Front azimuth θ produces identical delay to rear 180°-θ.</a:t>
            </a:r>
          </a:p>
          <a:p>
            <a:pPr>
              <a:spcAft>
                <a:spcPts val="400"/>
              </a:spcAft>
              <a:defRPr sz="950"/>
            </a:pPr>
            <a:r>
              <a:t>• Mitigation: Wall-mounted baffling restricts acoustic arrivals to the front half-plane.</a:t>
            </a:r>
          </a:p>
          <a:p>
            <a:pPr>
              <a:spcAft>
                <a:spcPts val="400"/>
              </a:spcAft>
              <a:defRPr sz="950"/>
            </a:pPr>
            <a:r>
              <a:t>• Future Upgrade: 2D planar array (3 mics in triangle) resolves 360° front/back ambiguity.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565C0"/>
                </a:solidFill>
              </a:defRPr>
            </a:pPr>
            <a:r>
              <a:t>2. SAR ADC Phase Jitter</a:t>
            </a:r>
          </a:p>
          <a:p>
            <a:pPr>
              <a:spcAft>
                <a:spcPts val="400"/>
              </a:spcAft>
              <a:defRPr sz="950"/>
            </a:pPr>
            <a:r>
              <a:t>• Physical Cause: ESP32 ADC1 shares a single sample-and-hold (S/H) capacitor multiplexed across pins.</a:t>
            </a:r>
          </a:p>
          <a:p>
            <a:pPr>
              <a:spcAft>
                <a:spcPts val="400"/>
              </a:spcAft>
              <a:defRPr sz="950"/>
            </a:pPr>
            <a:r>
              <a:t>• Sequential read of GPIO34 and GPIO35 creates a ~9.5 μs inter-channel hardware delay.</a:t>
            </a:r>
          </a:p>
          <a:p>
            <a:pPr>
              <a:spcAft>
                <a:spcPts val="400"/>
              </a:spcAft>
              <a:defRPr sz="950"/>
            </a:pPr>
            <a:r>
              <a:t>• Fictitious Path Offset: Δr_skew = c · 9.5 μs ≈ 3.26 mm (0.15 samples).</a:t>
            </a:r>
          </a:p>
          <a:p>
            <a:pPr>
              <a:spcAft>
                <a:spcPts val="400"/>
              </a:spcAft>
              <a:defRPr sz="950"/>
            </a:pPr>
            <a:r>
              <a:t>• Mitigation: Because skew is constant, the MLP input weights automatically learn and calibrate this hardware bias.</a:t>
            </a:r>
          </a:p>
          <a:p>
            <a:pPr>
              <a:spcAft>
                <a:spcPts val="400"/>
              </a:spcAft>
              <a:defRPr sz="950"/>
            </a:pPr>
            <a:r>
              <a:t>• Alternative: ESP32 I2S parallel ADC DMA ping-pong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E7D32"/>
                </a:solidFill>
              </a:defRPr>
            </a:pPr>
            <a:r>
              <a:t>3. MAX9814 AGC Dynamics</a:t>
            </a:r>
          </a:p>
          <a:p>
            <a:pPr>
              <a:spcAft>
                <a:spcPts val="400"/>
              </a:spcAft>
              <a:defRPr sz="950"/>
            </a:pPr>
            <a:r>
              <a:t>• Physical Cause: Independent active AGC circuits adjust gains dynamically based on individual SPL.</a:t>
            </a:r>
          </a:p>
          <a:p>
            <a:pPr>
              <a:spcAft>
                <a:spcPts val="400"/>
              </a:spcAft>
              <a:defRPr sz="950"/>
            </a:pPr>
            <a:r>
              <a:t>• Mathematical Invariance: Zero-Mean NCC divides by standard deviations: NCC[a·x, b·y] ≡ NCC[x, y].</a:t>
            </a:r>
          </a:p>
          <a:p>
            <a:pPr>
              <a:spcAft>
                <a:spcPts val="400"/>
              </a:spcAft>
              <a:defRPr sz="950"/>
            </a:pPr>
            <a:r>
              <a:t>• Strict Scalar Gain Invariance: Scalar gain differences from AGC have ZERO effect on normalized correlation shape.</a:t>
            </a:r>
          </a:p>
          <a:p>
            <a:pPr>
              <a:spcAft>
                <a:spcPts val="400"/>
              </a:spcAft>
              <a:defRPr sz="950"/>
            </a:pPr>
            <a:r>
              <a:t>• Onset Timing: Processing within first 16 ms operates inside pre-compression linear attack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NITTE NMAMIT • SRIP 2025–26 FINAL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233A"/>
                </a:solidFill>
              </a:defRPr>
            </a:pPr>
            <a:r>
              <a:t>Conclusions, Deliverables &amp; Future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C757D"/>
                </a:solidFill>
              </a:defRPr>
            </a:pPr>
            <a:r>
              <a:t>Hithesh H G (NNM23CS084) | Guide: Dr. Keerthana B Chigateri | CSE, NMAMIT Nitte | Ref: 2026/NMAMIT/R&amp;D/07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E7D32"/>
                </a:solidFill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050"/>
            </a:pPr>
            <a:r>
              <a:t>✔ Autonomous End-to-End System: Integrated analog front-end, high-speed acquisition, DSP feature engine, and TinyML inference.</a:t>
            </a:r>
          </a:p>
          <a:p>
            <a:pPr>
              <a:spcAft>
                <a:spcPts val="600"/>
              </a:spcAft>
              <a:defRPr sz="1050"/>
            </a:pPr>
            <a:r>
              <a:t>✔ State-of-the-Art Efficiency: Total execution time of 0.56 ms satisfies the &lt; 10 ms requirement with a 94.4% timing margin.</a:t>
            </a:r>
          </a:p>
          <a:p>
            <a:pPr>
              <a:spcAft>
                <a:spcPts val="600"/>
              </a:spcAft>
              <a:defRPr sz="1050"/>
            </a:pPr>
            <a:r>
              <a:t>✔ Extreme Memory Economy: Model footprint is only 2.44 KB Flash (76% margin) and Tensor Arena is 4.0 KB RAM (49% margin).</a:t>
            </a:r>
          </a:p>
          <a:p>
            <a:pPr>
              <a:spcAft>
                <a:spcPts val="600"/>
              </a:spcAft>
              <a:defRPr sz="1050"/>
            </a:pPr>
            <a:r>
              <a:t>✔ Robust Indoor Accuracy: 97.33% classification accuracy in reverberant 0.20s T60 room environments.</a:t>
            </a:r>
          </a:p>
          <a:p>
            <a:pPr>
              <a:spcAft>
                <a:spcPts val="600"/>
              </a:spcAft>
              <a:defRPr sz="1050"/>
            </a:pPr>
            <a:r>
              <a:t>✔ Production-Grade Firmware: Clean, zero-malloc C++ implementation with debouncing and circular pre-triggering.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565C0"/>
                </a:solidFill>
              </a:defRPr>
            </a:pPr>
            <a:r>
              <a:t>Deliverables &amp; Future Roadmap</a:t>
            </a:r>
          </a:p>
          <a:p>
            <a:pPr>
              <a:spcAft>
                <a:spcPts val="400"/>
              </a:spcAft>
              <a:defRPr sz="1000"/>
            </a:pPr>
            <a:r>
              <a:t>• 1. Complete Simulation &amp; Training Script: `train_doa.py`</a:t>
            </a:r>
          </a:p>
          <a:p>
            <a:pPr>
              <a:spcAft>
                <a:spcPts val="400"/>
              </a:spcAft>
              <a:defRPr sz="1000"/>
            </a:pPr>
            <a:r>
              <a:t>• 2. Quantized Int8 TFLite Binary: `doa_model_int8.tflite` (2,440 bytes)</a:t>
            </a:r>
          </a:p>
          <a:p>
            <a:pPr>
              <a:spcAft>
                <a:spcPts val="400"/>
              </a:spcAft>
              <a:defRPr sz="1000"/>
            </a:pPr>
            <a:r>
              <a:t>• 3. Embedded Model Header: `model_data.h` (C-array)</a:t>
            </a:r>
          </a:p>
          <a:p>
            <a:pPr>
              <a:spcAft>
                <a:spcPts val="400"/>
              </a:spcAft>
              <a:defRPr sz="1000"/>
            </a:pPr>
            <a:r>
              <a:t>• 4. Production Arduino C++ Firmware: `esp32_doa_firmware.ino`</a:t>
            </a:r>
          </a:p>
          <a:p>
            <a:pPr>
              <a:spcAft>
                <a:spcPts val="400"/>
              </a:spcAft>
              <a:defRPr sz="1000"/>
            </a:pPr>
            <a:r>
              <a:t>• 5. C++ Validation &amp; Latency Harness: `test_dsp.cpp` (5.1 μs)</a:t>
            </a:r>
          </a:p>
          <a:p>
            <a:pPr>
              <a:spcAft>
                <a:spcPts val="400"/>
              </a:spcAft>
              <a:defRPr sz="1000"/>
            </a:pPr>
            <a:r>
              <a:t>• 6. Formal IEEE Project Report PDF: `IEEE_Acoustic_DoA_Internship_Report.pdf`</a:t>
            </a:r>
          </a:p>
          <a:p>
            <a:pPr>
              <a:spcAft>
                <a:spcPts val="400"/>
              </a:spcAft>
              <a:defRPr sz="1000"/>
            </a:pPr>
            <a:r>
              <a:t>• 7. Next Steps: Planar 3-mic triangular array for 360° azimuth/elevation localization and adaptive beam steering.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